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Spline Sans"/>
      <p:regular r:id="rId16"/>
      <p:bold r:id="rId17"/>
    </p:embeddedFont>
    <p:embeddedFont>
      <p:font typeface="Lexend Light"/>
      <p:regular r:id="rId18"/>
      <p:bold r:id="rId19"/>
    </p:embeddedFon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1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plineSans-bold.fntdata"/><Relationship Id="rId16" Type="http://schemas.openxmlformats.org/officeDocument/2006/relationships/font" Target="fonts/SplineSans-regular.fntdata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4b49ea4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4b49ea4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4b49ea4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4b49ea4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4b49ea4b2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a4b49ea4b2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4b49ea4b2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4b49ea4b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4b49ea4b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4b49ea4b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a4b49ea4b2_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a4b49ea4b2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4b49ea4b2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4b49ea4b2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4b49ea4b2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a4b49ea4b2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a4b49ea4b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a4b49ea4b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62" name="Google Shape;62;p14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20" name="Google Shape;120;p14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1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2" name="Google Shape;142;p1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143" name="Google Shape;143;p1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148" name="Google Shape;148;p19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06" name="Google Shape;206;p19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20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6" name="Google Shape;216;p20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7" name="Google Shape;217;p20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0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0" name="Google Shape;220;p20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1" name="Google Shape;221;p20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2" name="Google Shape;222;p20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" name="Google Shape;225;p20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6" name="Google Shape;226;p20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2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2" name="Google Shape;232;p21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3" name="Google Shape;233;p21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4" name="Google Shape;234;p21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1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7" name="Google Shape;237;p21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8" name="Google Shape;238;p21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2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22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2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22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7" name="Google Shape;247;p22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8" name="Google Shape;248;p2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2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54" name="Google Shape;254;p23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6" name="Google Shape;256;p23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7" name="Google Shape;257;p23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8" name="Google Shape;258;p23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9" name="Google Shape;259;p23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23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1" name="Google Shape;261;p23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3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23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8" name="Google Shape;268;p24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24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1" name="Google Shape;271;p24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2" name="Google Shape;272;p24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3" name="Google Shape;273;p24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24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75" name="Google Shape;275;p24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25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5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2" name="Google Shape;282;p25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26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26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2" name="Google Shape;292;p27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3" name="Google Shape;293;p27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27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28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0" name="Google Shape;300;p28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28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5" name="Google Shape;305;p29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06" name="Google Shape;306;p29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9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9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9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9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9" name="Google Shape;319;p29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9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4" name="Google Shape;334;p29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7" name="Google Shape;337;p29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1" name="Google Shape;341;p29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2" name="Google Shape;342;p29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4" name="Google Shape;344;p29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6" name="Google Shape;346;p29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0" name="Google Shape;350;p29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2" name="Google Shape;352;p29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3" name="Google Shape;353;p29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6" name="Google Shape;356;p29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9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1" name="Google Shape;361;p30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62" name="Google Shape;362;p30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0" name="Google Shape;370;p30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7" name="Google Shape;397;p30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2" name="Google Shape;402;p30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6" name="Google Shape;406;p30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9" name="Google Shape;409;p30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30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5" name="Google Shape;415;p30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8" name="Google Shape;418;p3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19" name="Google Shape;419;p3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23" name="Google Shape;423;p3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6" name="Google Shape;426;p3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27" name="Google Shape;427;p3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31" name="Google Shape;431;p32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2" name="Google Shape;432;p32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35" name="Google Shape;435;p3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36" name="Google Shape;436;p3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9" name="Google Shape;439;p3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40" name="Google Shape;440;p33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1" name="Google Shape;441;p33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33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45" name="Google Shape;445;p3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46" name="Google Shape;446;p3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3" name="Google Shape;453;p3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54" name="Google Shape;454;p3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6" name="Google Shape;456;p3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7" name="Google Shape;457;p3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3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60" name="Google Shape;460;p3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2" name="Google Shape;462;p3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3" name="Google Shape;463;p3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64" name="Google Shape;46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0" name="Google Shape;470;p36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1" name="Google Shape;471;p36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2" name="Google Shape;472;p36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3" name="Google Shape;473;p36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74" name="Google Shape;474;p36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5" name="Google Shape;475;p36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36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36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36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36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36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36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36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36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6" name="Google Shape;486;p3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87" name="Google Shape;487;p3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9" name="Google Shape;489;p3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0" name="Google Shape;490;p3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91" name="Google Shape;491;p37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4" name="Google Shape;49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38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6" name="Google Shape;496;p38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497" name="Google Shape;497;p38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498" name="Google Shape;498;p38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01" name="Google Shape;501;p38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02" name="Google Shape;502;p38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3" name="Google Shape;503;p38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4" name="Google Shape;504;p38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5" name="Google Shape;505;p38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6" name="Google Shape;506;p38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8" name="Google Shape;508;p38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0" name="Google Shape;510;p38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1" name="Google Shape;511;p38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4" name="Google Shape;514;p3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515" name="Google Shape;515;p3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7" name="Google Shape;517;p3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18" name="Google Shape;518;p3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19" name="Google Shape;519;p39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40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p40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4" name="Google Shape;524;p40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25" name="Google Shape;525;p40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6" name="Google Shape;526;p40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528" name="Google Shape;528;p40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41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3" name="Google Shape;533;p41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34" name="Google Shape;534;p41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6" name="Google Shape;536;p41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537" name="Google Shape;537;p41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4" name="Google Shape;544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5" name="Google Shape;54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asingh772004/Edmond_Blossom_Simulati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4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Edmonds Blossom Simulation</a:t>
            </a:r>
            <a:endParaRPr/>
          </a:p>
        </p:txBody>
      </p:sp>
      <p:sp>
        <p:nvSpPr>
          <p:cNvPr id="551" name="Google Shape;551;p44"/>
          <p:cNvSpPr/>
          <p:nvPr/>
        </p:nvSpPr>
        <p:spPr>
          <a:xfrm>
            <a:off x="148625" y="147525"/>
            <a:ext cx="45237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2" name="Google Shape;552;p44"/>
          <p:cNvSpPr txBox="1"/>
          <p:nvPr>
            <p:ph idx="1" type="body"/>
          </p:nvPr>
        </p:nvSpPr>
        <p:spPr>
          <a:xfrm>
            <a:off x="108194" y="167185"/>
            <a:ext cx="4564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Mathematical Foundation for Computer Science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5459300" y="3806525"/>
            <a:ext cx="3550200" cy="120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4" name="Google Shape;554;p44"/>
          <p:cNvSpPr txBox="1"/>
          <p:nvPr>
            <p:ph idx="4" type="body"/>
          </p:nvPr>
        </p:nvSpPr>
        <p:spPr>
          <a:xfrm>
            <a:off x="5373557" y="3836025"/>
            <a:ext cx="36441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Aditya Dhananjay Singh - 22CS02001</a:t>
            </a:r>
            <a:endParaRPr b="1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Kumar Snehal - 22CS02009</a:t>
            </a:r>
            <a:endParaRPr b="1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Atharva Atul Penkar - 22CS02011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/>
          <p:nvPr>
            <p:ph idx="1" type="subTitle"/>
          </p:nvPr>
        </p:nvSpPr>
        <p:spPr>
          <a:xfrm>
            <a:off x="279944" y="1613380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Maximum Matching</a:t>
            </a:r>
            <a:endParaRPr sz="2000"/>
          </a:p>
        </p:txBody>
      </p:sp>
      <p:sp>
        <p:nvSpPr>
          <p:cNvPr id="560" name="Google Shape;560;p45"/>
          <p:cNvSpPr txBox="1"/>
          <p:nvPr>
            <p:ph idx="2" type="body"/>
          </p:nvPr>
        </p:nvSpPr>
        <p:spPr>
          <a:xfrm>
            <a:off x="279944" y="2134450"/>
            <a:ext cx="4068600" cy="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A Maximum Matching in a graph is a set of edges where no two edges share a common vertex, and it is the largest possible such set.</a:t>
            </a:r>
            <a:endParaRPr sz="1400"/>
          </a:p>
        </p:txBody>
      </p:sp>
      <p:sp>
        <p:nvSpPr>
          <p:cNvPr id="561" name="Google Shape;561;p45"/>
          <p:cNvSpPr txBox="1"/>
          <p:nvPr>
            <p:ph idx="3" type="subTitle"/>
          </p:nvPr>
        </p:nvSpPr>
        <p:spPr>
          <a:xfrm>
            <a:off x="279944" y="3151723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000"/>
              <a:t>Edmond Blossom Algorithm</a:t>
            </a:r>
            <a:endParaRPr sz="2000"/>
          </a:p>
        </p:txBody>
      </p:sp>
      <p:sp>
        <p:nvSpPr>
          <p:cNvPr id="562" name="Google Shape;562;p45"/>
          <p:cNvSpPr txBox="1"/>
          <p:nvPr>
            <p:ph idx="4" type="body"/>
          </p:nvPr>
        </p:nvSpPr>
        <p:spPr>
          <a:xfrm>
            <a:off x="4821879" y="1880024"/>
            <a:ext cx="41535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It extends augmenting path algorithms by identifying and contracting odd-length cycles, called "blossoms," into single vertices.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This contraction process simplifies the graph, allowing the algorithm to continue searching for augmenting paths to increase the matching size.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lang="en" sz="1400"/>
              <a:t>Once a maximum matching is found in the contracted graph, the algorithm expands the blossoms to determine the maximum matching in the original graph.</a:t>
            </a:r>
            <a:endParaRPr sz="1400"/>
          </a:p>
        </p:txBody>
      </p:sp>
      <p:sp>
        <p:nvSpPr>
          <p:cNvPr id="563" name="Google Shape;563;p45"/>
          <p:cNvSpPr txBox="1"/>
          <p:nvPr>
            <p:ph type="title"/>
          </p:nvPr>
        </p:nvSpPr>
        <p:spPr>
          <a:xfrm>
            <a:off x="0" y="247791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Edmonds Blossom Algorithm</a:t>
            </a:r>
            <a:endParaRPr/>
          </a:p>
        </p:txBody>
      </p:sp>
      <p:sp>
        <p:nvSpPr>
          <p:cNvPr id="564" name="Google Shape;564;p45"/>
          <p:cNvSpPr txBox="1"/>
          <p:nvPr>
            <p:ph idx="2" type="body"/>
          </p:nvPr>
        </p:nvSpPr>
        <p:spPr>
          <a:xfrm>
            <a:off x="279944" y="3573150"/>
            <a:ext cx="40686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Edmonds Blossom Algorithm is a method for finding a maximum cardinality matching in a general graph (not restricted to bipartite graphs).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6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latin typeface="Lexend"/>
                <a:ea typeface="Lexend"/>
                <a:cs typeface="Lexend"/>
                <a:sym typeface="Lexend"/>
              </a:rPr>
              <a:t>Pseudo-Code</a:t>
            </a:r>
            <a:endParaRPr/>
          </a:p>
        </p:txBody>
      </p:sp>
      <p:pic>
        <p:nvPicPr>
          <p:cNvPr id="570" name="Google Shape;570;p46"/>
          <p:cNvPicPr preferRelativeResize="0"/>
          <p:nvPr/>
        </p:nvPicPr>
        <p:blipFill rotWithShape="1">
          <a:blip r:embed="rId3">
            <a:alphaModFix/>
          </a:blip>
          <a:srcRect b="0" l="0" r="3334" t="0"/>
          <a:stretch/>
        </p:blipFill>
        <p:spPr>
          <a:xfrm>
            <a:off x="107375" y="1606000"/>
            <a:ext cx="4419601" cy="33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325" y="94275"/>
            <a:ext cx="4419600" cy="495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7"/>
          <p:cNvSpPr txBox="1"/>
          <p:nvPr>
            <p:ph type="title"/>
          </p:nvPr>
        </p:nvSpPr>
        <p:spPr>
          <a:xfrm>
            <a:off x="408650" y="161700"/>
            <a:ext cx="7888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Blossom Contraction</a:t>
            </a:r>
            <a:endParaRPr/>
          </a:p>
        </p:txBody>
      </p:sp>
      <p:pic>
        <p:nvPicPr>
          <p:cNvPr id="577" name="Google Shape;5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178" y="1223874"/>
            <a:ext cx="3835199" cy="382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25" y="1223875"/>
            <a:ext cx="4277429" cy="38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7"/>
          <p:cNvSpPr txBox="1"/>
          <p:nvPr>
            <p:ph type="title"/>
          </p:nvPr>
        </p:nvSpPr>
        <p:spPr>
          <a:xfrm>
            <a:off x="410398" y="161700"/>
            <a:ext cx="7888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Blossom Contraction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8"/>
          <p:cNvSpPr txBox="1"/>
          <p:nvPr>
            <p:ph type="title"/>
          </p:nvPr>
        </p:nvSpPr>
        <p:spPr>
          <a:xfrm>
            <a:off x="408650" y="161700"/>
            <a:ext cx="7888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Blossom Expansion</a:t>
            </a:r>
            <a:endParaRPr/>
          </a:p>
        </p:txBody>
      </p:sp>
      <p:pic>
        <p:nvPicPr>
          <p:cNvPr id="585" name="Google Shape;58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1897" y="1220457"/>
            <a:ext cx="4337140" cy="3835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650" y="1220457"/>
            <a:ext cx="3835193" cy="3835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/>
          <p:nvPr>
            <p:ph idx="1" type="subTitle"/>
          </p:nvPr>
        </p:nvSpPr>
        <p:spPr>
          <a:xfrm>
            <a:off x="452100" y="1843712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592" name="Google Shape;592;p49"/>
          <p:cNvSpPr txBox="1"/>
          <p:nvPr>
            <p:ph idx="2" type="body"/>
          </p:nvPr>
        </p:nvSpPr>
        <p:spPr>
          <a:xfrm>
            <a:off x="452100" y="2315012"/>
            <a:ext cx="3755400" cy="23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Matching Array []:</a:t>
            </a:r>
            <a:r>
              <a:rPr lang="en" sz="1400"/>
              <a:t> matching array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Par[]:</a:t>
            </a:r>
            <a:r>
              <a:rPr lang="en" sz="1400"/>
              <a:t> parent pointer for alternating trees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Base[]:</a:t>
            </a:r>
            <a:r>
              <a:rPr lang="en" sz="1400"/>
              <a:t> current blossom base for each vertex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Status[]:</a:t>
            </a:r>
            <a:r>
              <a:rPr lang="en" sz="1400"/>
              <a:t> EVEN/ODD/UNLABELED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Adj[]:</a:t>
            </a:r>
            <a:r>
              <a:rPr lang="en" sz="1400"/>
              <a:t> adjacency list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blossomMap:</a:t>
            </a:r>
            <a:r>
              <a:rPr lang="en" sz="1400"/>
              <a:t> blossom base → vertices in blossom</a:t>
            </a:r>
            <a:endParaRPr sz="1400"/>
          </a:p>
        </p:txBody>
      </p:sp>
      <p:sp>
        <p:nvSpPr>
          <p:cNvPr id="593" name="Google Shape;593;p49"/>
          <p:cNvSpPr txBox="1"/>
          <p:nvPr>
            <p:ph idx="3" type="subTitle"/>
          </p:nvPr>
        </p:nvSpPr>
        <p:spPr>
          <a:xfrm>
            <a:off x="4951100" y="1843705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Key operations</a:t>
            </a:r>
            <a:endParaRPr/>
          </a:p>
        </p:txBody>
      </p:sp>
      <p:sp>
        <p:nvSpPr>
          <p:cNvPr id="594" name="Google Shape;594;p49"/>
          <p:cNvSpPr txBox="1"/>
          <p:nvPr>
            <p:ph idx="4" type="body"/>
          </p:nvPr>
        </p:nvSpPr>
        <p:spPr>
          <a:xfrm>
            <a:off x="4951100" y="2315007"/>
            <a:ext cx="3755400" cy="23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BFS search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builds alternating trees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LCA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computation: finds blossom base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markPath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sets parents &amp; compresses blossoms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contract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creates new blossom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expandBlossom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restores original vertices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augment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follows alternating path, expands blossoms, flips edges</a:t>
            </a:r>
            <a:endParaRPr sz="1500"/>
          </a:p>
        </p:txBody>
      </p:sp>
      <p:sp>
        <p:nvSpPr>
          <p:cNvPr id="595" name="Google Shape;595;p49"/>
          <p:cNvSpPr txBox="1"/>
          <p:nvPr>
            <p:ph type="title"/>
          </p:nvPr>
        </p:nvSpPr>
        <p:spPr>
          <a:xfrm>
            <a:off x="0" y="247791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of Algorithm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0"/>
          <p:cNvSpPr txBox="1"/>
          <p:nvPr>
            <p:ph idx="1" type="subTitle"/>
          </p:nvPr>
        </p:nvSpPr>
        <p:spPr>
          <a:xfrm>
            <a:off x="452100" y="1708112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tech stack</a:t>
            </a:r>
            <a:endParaRPr/>
          </a:p>
        </p:txBody>
      </p:sp>
      <p:sp>
        <p:nvSpPr>
          <p:cNvPr id="601" name="Google Shape;601;p50"/>
          <p:cNvSpPr txBox="1"/>
          <p:nvPr>
            <p:ph idx="2" type="body"/>
          </p:nvPr>
        </p:nvSpPr>
        <p:spPr>
          <a:xfrm>
            <a:off x="452100" y="2179397"/>
            <a:ext cx="3755400" cy="28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React with TypeScript</a:t>
            </a:r>
            <a:r>
              <a:rPr lang="en" sz="1400"/>
              <a:t> – Builds the user interface as reusable components, with static typing to catch errors in graph and algorithm state.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Vite (build and dev tool)</a:t>
            </a:r>
            <a:r>
              <a:rPr lang="en" sz="1400"/>
              <a:t> – Provides a fast development server, hot‑reload, and bundling for the single‑page web application.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HTML5 + CSS3</a:t>
            </a:r>
            <a:r>
              <a:rPr lang="en" sz="1400"/>
              <a:t> – Structures the page and styles the layout, forms, and graph area for a clean, responsive interface.</a:t>
            </a:r>
            <a:endParaRPr sz="1400"/>
          </a:p>
        </p:txBody>
      </p:sp>
      <p:sp>
        <p:nvSpPr>
          <p:cNvPr id="602" name="Google Shape;602;p50"/>
          <p:cNvSpPr txBox="1"/>
          <p:nvPr>
            <p:ph idx="3" type="subTitle"/>
          </p:nvPr>
        </p:nvSpPr>
        <p:spPr>
          <a:xfrm>
            <a:off x="4951100" y="1708105"/>
            <a:ext cx="3755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Libraries and custom modules</a:t>
            </a:r>
            <a:endParaRPr/>
          </a:p>
        </p:txBody>
      </p:sp>
      <p:sp>
        <p:nvSpPr>
          <p:cNvPr id="603" name="Google Shape;603;p50"/>
          <p:cNvSpPr txBox="1"/>
          <p:nvPr>
            <p:ph idx="4" type="body"/>
          </p:nvPr>
        </p:nvSpPr>
        <p:spPr>
          <a:xfrm>
            <a:off x="4951100" y="2179398"/>
            <a:ext cx="3755400" cy="29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Custom Edmonds’ Blossom logic module</a:t>
            </a:r>
            <a:r>
              <a:rPr lang="en" sz="1400"/>
              <a:t> – Implements the Edmonds maximum matching algorithm (including blossom handling) and emits step‑by‑step snapshots for visualization.</a:t>
            </a:r>
            <a:endParaRPr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400">
                <a:latin typeface="Lexend"/>
                <a:ea typeface="Lexend"/>
                <a:cs typeface="Lexend"/>
                <a:sym typeface="Lexend"/>
              </a:rPr>
              <a:t>SVG (Scalable Vector Graphics) via React components</a:t>
            </a:r>
            <a:r>
              <a:rPr lang="en" sz="1400"/>
              <a:t> – Renders vertices, edges, matchings, and blossoms as shapes, allowing interactive highlighting of each algorithm step.</a:t>
            </a:r>
            <a:endParaRPr sz="1400"/>
          </a:p>
        </p:txBody>
      </p:sp>
      <p:sp>
        <p:nvSpPr>
          <p:cNvPr id="604" name="Google Shape;604;p50"/>
          <p:cNvSpPr txBox="1"/>
          <p:nvPr>
            <p:ph type="title"/>
          </p:nvPr>
        </p:nvSpPr>
        <p:spPr>
          <a:xfrm>
            <a:off x="0" y="247791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and Libraries used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1"/>
          <p:cNvSpPr txBox="1"/>
          <p:nvPr>
            <p:ph type="title"/>
          </p:nvPr>
        </p:nvSpPr>
        <p:spPr>
          <a:xfrm>
            <a:off x="1241550" y="1881723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  <p:sp>
        <p:nvSpPr>
          <p:cNvPr id="610" name="Google Shape;610;p51"/>
          <p:cNvSpPr txBox="1"/>
          <p:nvPr>
            <p:ph idx="4294967295" type="subTitle"/>
          </p:nvPr>
        </p:nvSpPr>
        <p:spPr>
          <a:xfrm>
            <a:off x="2570219" y="2854830"/>
            <a:ext cx="37554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Repository</a:t>
            </a:r>
            <a:r>
              <a:rPr lang="en" sz="2000">
                <a:solidFill>
                  <a:schemeClr val="accent5"/>
                </a:solidFill>
              </a:rPr>
              <a:t> 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2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